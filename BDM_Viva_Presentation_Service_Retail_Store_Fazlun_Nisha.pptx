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Aptos Display"/>
              </a:defRPr>
            </a:pPr>
            <a:r>
              <a:t>CASE STUDY OF SERVICE RETAIL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4028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BDM Capstone Project — Viva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233172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64008" cy="1234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364991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85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82219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Observation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3172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324612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3364991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71 SKUs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82219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Products analysed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246120"/>
            <a:ext cx="233172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3246120"/>
            <a:ext cx="64008" cy="1234440"/>
          </a:xfrm>
          <a:prstGeom prst="rect">
            <a:avLst/>
          </a:prstGeom>
          <a:solidFill>
            <a:srgbClr val="68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3364991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₹91,675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82219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246120"/>
            <a:ext cx="233172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3246120"/>
            <a:ext cx="64008" cy="12344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8" y="3364991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₹20,210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3822191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</a:defRPr>
            </a:pPr>
            <a:r>
              <a:t>Submitted by: FAZLUN NISHA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Roll No. 24f1000564  |  IITM Online BS Degree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1. Organization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Small community/campus retail outlet in Kolkata.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Serves students, hostel residents, local residents and staff.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Main product groups: Food, Cleaning, Personal Care and Stationery.</a:t>
            </a:r>
          </a:p>
          <a:p>
            <a:pPr>
              <a:spcAft>
                <a:spcPts val="9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Study focus: inventory imbalance, margin leakage and cross-category selling.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1874519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64008" cy="1234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536192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993392"/>
            <a:ext cx="16459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Product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417320"/>
            <a:ext cx="1874519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41732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02368" y="1536192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02368" y="1993392"/>
            <a:ext cx="16459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Linked data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71800"/>
            <a:ext cx="1874519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2971800"/>
            <a:ext cx="64008" cy="1234440"/>
          </a:xfrm>
          <a:prstGeom prst="rect">
            <a:avLst/>
          </a:prstGeom>
          <a:solidFill>
            <a:srgbClr val="68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090672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547872"/>
            <a:ext cx="16459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Sales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971800"/>
            <a:ext cx="1874519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46920" y="2971800"/>
            <a:ext cx="64008" cy="12344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8" y="3090672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3547872"/>
            <a:ext cx="164591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Purchase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2. Problem Statements /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416052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5B9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Inventory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Identify understocked fast-moving items and overstocked slow-moving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37560" cy="416052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916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Margin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7180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Compare category margins and wastage to identify where profitability is being lost.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337560" cy="416052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8A64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028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Cross-category selling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7180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Identify category combinations that can support simple cross-selling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3. Data Collection &amp;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28600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3533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85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Primary data: 02 May–25 Jul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34440"/>
            <a:ext cx="228600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23444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3533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81051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SKUs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234440"/>
            <a:ext cx="228600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1234440"/>
            <a:ext cx="64008" cy="1234440"/>
          </a:xfrm>
          <a:prstGeom prst="rect">
            <a:avLst/>
          </a:prstGeom>
          <a:solidFill>
            <a:srgbClr val="68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13533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181051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Inventory count 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228600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4008" cy="123444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35331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10512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Sales / Purchase /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8892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Source: shopkeeper's sales register, purchase records and rolling physical stock counts.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Excel: cleaning, formulas, summaries and category analysis; Python: cross-check and presentation-quality charts.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Inventory: ABC-style classification + stock cover + indicative reorder point.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Margins: category margin statistics + wastage analysis.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Cross-selling: customer-segment affinity + same-day customer-type proxy basket.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4. Data Cleaning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Checked missing core fields and recovered values from register records where possible.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Flagged duplicate-looking rows and verified them manually.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Screened Quantity Sold and Revenue outliers using the IQR rule.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Standardised product names/categories using a lookup table and XLOOKUP.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Recomputed Revenue and Inventory closing stock to validate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508760"/>
            <a:ext cx="2743200" cy="132588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8120" y="1508760"/>
            <a:ext cx="64008" cy="132588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1627631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₹91,675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084831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Recomputed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063240"/>
            <a:ext cx="2743200" cy="132588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3063240"/>
            <a:ext cx="64008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18211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₹71,465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639312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Cost of goods sold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617720"/>
            <a:ext cx="2743200" cy="132588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4617720"/>
            <a:ext cx="64008" cy="1325880"/>
          </a:xfrm>
          <a:prstGeom prst="rect">
            <a:avLst/>
          </a:prstGeom>
          <a:solidFill>
            <a:srgbClr val="68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736592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 Display"/>
              </a:defRPr>
            </a:pPr>
            <a:r>
              <a:t>₹20,210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5193792"/>
            <a:ext cx="2514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B5563"/>
                </a:solidFill>
                <a:latin typeface="Aptos"/>
              </a:defRPr>
            </a:pPr>
            <a:r>
              <a:t>Gross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5. Results — Revenue &amp; Profitability</a:t>
            </a:r>
          </a:p>
        </p:txBody>
      </p:sp>
      <p:pic>
        <p:nvPicPr>
          <p:cNvPr id="4" name="Picture 3" descr="afb606cf0a332886e5e80117485913e306657f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492240" cy="4494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417320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Essentials: ₹47,790 (52.1%) of revenue.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Food: ₹34,909 (38.1%).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Stationery: ₹8,976 (9.8%).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Overall gross profit: ₹20,210 on ₹91,675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6. Results — Inventory Imbalance</a:t>
            </a:r>
          </a:p>
        </p:txBody>
      </p:sp>
      <p:pic>
        <p:nvPicPr>
          <p:cNvPr id="4" name="Picture 3" descr="fea1cf10e9164f70c1818457652cdb7b5491d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3734972"/>
          </a:xfrm>
          <a:prstGeom prst="rect">
            <a:avLst/>
          </a:prstGeom>
        </p:spPr>
      </p:pic>
      <p:pic>
        <p:nvPicPr>
          <p:cNvPr id="5" name="Picture 4" descr="88b36504bac229aa9146488c067b1d2b79c670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394960" cy="3734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Food: 12.3 days of stock cover and 12 stockout instances.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Cleaning: 54.0 days; Personal Care: 48.4; Stationery: 51.4.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23 stockout instances were recorded in total.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24 products had more than 45 days of stock 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7. Results — Margin &amp; Wastage</a:t>
            </a:r>
          </a:p>
        </p:txBody>
      </p:sp>
      <p:pic>
        <p:nvPicPr>
          <p:cNvPr id="4" name="Picture 3" descr="93577248fd160d4c6ef678655e00b8f0f531a3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3319975"/>
          </a:xfrm>
          <a:prstGeom prst="rect">
            <a:avLst/>
          </a:prstGeom>
        </p:spPr>
      </p:pic>
      <p:pic>
        <p:nvPicPr>
          <p:cNvPr id="5" name="Picture 4" descr="8ba49d7f08d496955f3cb38baaa7251f163222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394960" cy="3319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Stationery had the highest mean transaction margin: 34.94%.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Food had the lowest mean transaction margin: 21.68%.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Food had the highest recorded wastage: 29 units.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Food's margin gap is linked in the report to wastage and stockout-related lost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8. Results — Cross-Category Selling</a:t>
            </a:r>
          </a:p>
        </p:txBody>
      </p:sp>
      <p:pic>
        <p:nvPicPr>
          <p:cNvPr id="4" name="Picture 3" descr="8836e58412a95628a037606d9e94d28daa8c53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3853543"/>
          </a:xfrm>
          <a:prstGeom prst="rect">
            <a:avLst/>
          </a:prstGeom>
        </p:spPr>
      </p:pic>
      <p:pic>
        <p:nvPicPr>
          <p:cNvPr id="5" name="Picture 4" descr="b9deffa030fcf08fa74d1b33e0c045b142403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43000"/>
            <a:ext cx="5394960" cy="3034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150 customer-type/day groupings; 141 (94%) included more than one category.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Food + Personal Care was the most frequent pairing: 66.0%.</a:t>
            </a:r>
          </a:p>
          <a:p>
            <a:pPr>
              <a:spcAft>
                <a:spcPts val="9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This is a proxy analysis because no transaction/basket ID was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 Display"/>
              </a:defRPr>
            </a:pPr>
            <a:r>
              <a:t>9.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Increase Food restocking frequency; use ~22 units as an indicative reorder trigger.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Reduce order quantities for slow-moving SKUs above 45 days of cover.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Use markdown/clearance triggers before Food items approach expiry.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Test Food + Personal Care shelf adjacency or a small bundle.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Track outcomes with a simple before/after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417320"/>
            <a:ext cx="3977639" cy="4251960"/>
          </a:xfrm>
          <a:prstGeom prst="roundRect">
            <a:avLst/>
          </a:prstGeom>
          <a:solidFill>
            <a:srgbClr val="F3F4F6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3429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5B99"/>
                </a:solidFill>
              </a:defRPr>
            </a:pPr>
            <a: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468880"/>
            <a:ext cx="3383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The three issues are connected:</a:t>
            </a:r>
            <a:br/>
            <a:br/>
            <a:r>
              <a:t>• Food is fast-moving but understocked.</a:t>
            </a:r>
            <a:br/>
            <a:r>
              <a:t>• Food also has the highest wastage and lower margin.</a:t>
            </a:r>
            <a:br/>
            <a:r>
              <a:t>• Cross-selling can be tested alongside inventory correction.</a:t>
            </a:r>
            <a:br/>
            <a:br/>
            <a:r>
              <a:t>The recommendations are low-cost and based on the existing store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556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